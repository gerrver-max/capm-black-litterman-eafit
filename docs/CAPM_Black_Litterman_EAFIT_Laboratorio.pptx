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napToObject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CAPM vs. Black-Litterman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Construcción del modelo en Python y lectura de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Laboratorio de gestión de portafolios</a:t>
            </a:r>
          </a:p>
          <a:p>
            <a:pPr>
              <a:spcAft>
                <a:spcPts val="900"/>
              </a:spcAft>
              <a:defRPr sz="2300"/>
            </a:pPr>
            <a:r>
              <a:t>Datos mensuales desde 2020</a:t>
            </a:r>
          </a:p>
          <a:p>
            <a:pPr>
              <a:spcAft>
                <a:spcPts val="900"/>
              </a:spcAft>
              <a:defRPr sz="2300"/>
            </a:pPr>
            <a:r>
              <a:t>10 ETFs · CAPM · Black-Litterman · optimización</a:t>
            </a:r>
          </a:p>
          <a:p>
            <a:pPr>
              <a:spcAft>
                <a:spcPts val="900"/>
              </a:spcAft>
              <a:defRPr sz="2300"/>
            </a:pPr>
            <a:r>
              <a:t>Sensibilidad BL: 30%, 60% y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Arquitectura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Del dato de mercado a la decisión de portafolio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1. Descarga y preparación de precios</a:t>
            </a:r>
          </a:p>
          <a:p>
            <a:pPr>
              <a:spcAft>
                <a:spcPts val="900"/>
              </a:spcAft>
              <a:defRPr sz="2100"/>
            </a:pPr>
            <a:r>
              <a:t>2. Conversión a retornos mensuales</a:t>
            </a:r>
          </a:p>
          <a:p>
            <a:pPr>
              <a:spcAft>
                <a:spcPts val="900"/>
              </a:spcAft>
              <a:defRPr sz="2100"/>
            </a:pPr>
            <a:r>
              <a:t>3. Matriz de covarianzas y tasa libre de riesgo</a:t>
            </a:r>
          </a:p>
          <a:p>
            <a:pPr>
              <a:spcAft>
                <a:spcPts val="900"/>
              </a:spcAft>
              <a:defRPr sz="2100"/>
            </a:pPr>
            <a:r>
              <a:t>4. Retornos esperados: CAPM y Black-Litterman</a:t>
            </a:r>
          </a:p>
          <a:p>
            <a:pPr>
              <a:spcAft>
                <a:spcPts val="900"/>
              </a:spcAft>
              <a:defRPr sz="2100"/>
            </a:pPr>
            <a:r>
              <a:t>5. Optimización de máxima razón de Sharpe</a:t>
            </a:r>
          </a:p>
          <a:p>
            <a:pPr>
              <a:spcAft>
                <a:spcPts val="900"/>
              </a:spcAft>
              <a:defRPr sz="2100"/>
            </a:pPr>
            <a:r>
              <a:t>6. Fronteras eficientes, sensibilidad y exportación a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Datos: mantener la frecuencia mensual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Una decisión metodológica crítica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2743200"/>
          </a:xfrm>
          <a:prstGeom prst="round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36192"/>
            <a:ext cx="10058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BEBEB"/>
                </a:solidFill>
                <a:latin typeface="Menlo"/>
              </a:defRPr>
            </a:pPr>
            <a:r>
              <a:t>prices = yf.download(TICKERS, start="2020-01-01",</a:t>
            </a:r>
            <a:br/>
            <a:r>
              <a:t>                         end=END_DATE, auto_adjust=True)</a:t>
            </a:r>
            <a:br/>
            <a:r>
              <a:t>prices_monthly = prices.resample("ME").last()</a:t>
            </a:r>
            <a:br/>
            <a:r>
              <a:t>returns = prices_monthly.pct_change().dropna()</a:t>
            </a:r>
            <a:br/>
            <a:r>
              <a:t>Sigma = returns.cov() *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805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La frecuencia debe ser consistente con la anualización del riesgo.</a:t>
            </a:r>
          </a:p>
          <a:p>
            <a:pPr>
              <a:spcAft>
                <a:spcPts val="900"/>
              </a:spcAft>
              <a:defRPr sz="1500"/>
            </a:pPr>
            <a:r>
              <a:t>Con retornos mensuales: covarianza anualizada = covarianza mensual × 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CAPM: construcción de retornos esperados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1051560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719072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BEBEB"/>
                </a:solidFill>
                <a:latin typeface="Menlo"/>
              </a:defRPr>
            </a:pPr>
            <a:r>
              <a:t>E(Ri) = Rf + βi × ERP</a:t>
            </a:r>
            <a:br/>
            <a:br/>
            <a:r>
              <a:t>capm_returns = rf + betas * erp_damodaran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Rf: Treasury UST 5Y.</a:t>
            </a:r>
          </a:p>
          <a:p>
            <a:pPr>
              <a:spcAft>
                <a:spcPts val="900"/>
              </a:spcAft>
              <a:defRPr sz="1900"/>
            </a:pPr>
            <a:r>
              <a:t>ERP: prima de riesgo de mercado basada en Damodaran.</a:t>
            </a:r>
          </a:p>
          <a:p>
            <a:pPr>
              <a:spcAft>
                <a:spcPts val="900"/>
              </a:spcAft>
              <a:defRPr sz="1900"/>
            </a:pPr>
            <a:r>
              <a:t>β: sensibilidad de cada activo frente al mercado.</a:t>
            </a:r>
          </a:p>
          <a:p>
            <a:pPr>
              <a:spcAft>
                <a:spcPts val="900"/>
              </a:spcAft>
              <a:defRPr sz="1900"/>
            </a:pPr>
            <a:r>
              <a:t>El CAPM produce el vector de retornos esperado para la optimización.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Black-Litterman: equilibrio + opiniones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0" cy="2103120"/>
          </a:xfrm>
          <a:prstGeom prst="round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536192"/>
            <a:ext cx="1005840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BEBEB"/>
                </a:solidFill>
                <a:latin typeface="Menlo"/>
              </a:defRPr>
            </a:pPr>
            <a:r>
              <a:t>Π = Rf + δΣw</a:t>
            </a:r>
            <a:br/>
            <a:br/>
            <a:r>
              <a:t>μBL = [ (τΣ)^-1 + P'Ω^-1P ]^-1 [ (τΣ)^-1Π + P'Ω^-1Q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Π = retornos de equilibrio implícitos en el benchmark.</a:t>
            </a:r>
          </a:p>
          <a:p>
            <a:pPr>
              <a:spcAft>
                <a:spcPts val="900"/>
              </a:spcAft>
              <a:defRPr sz="1700"/>
            </a:pPr>
            <a:r>
              <a:t>P y Q = estructura y magnitud de las opiniones.</a:t>
            </a:r>
          </a:p>
          <a:p>
            <a:pPr>
              <a:spcAft>
                <a:spcPts val="900"/>
              </a:spcAft>
              <a:defRPr sz="1700"/>
            </a:pPr>
            <a:r>
              <a:t>Ω = incertidumbre asociada a las opiniones.</a:t>
            </a:r>
          </a:p>
          <a:p>
            <a:pPr>
              <a:spcAft>
                <a:spcPts val="900"/>
              </a:spcAft>
              <a:defRPr sz="1700"/>
            </a:pPr>
            <a:r>
              <a:t>τ = incertidumbre sobre los retornos de equilibrio.</a:t>
            </a:r>
          </a:p>
          <a:p>
            <a:pPr>
              <a:spcAft>
                <a:spcPts val="900"/>
              </a:spcAft>
              <a:defRPr sz="1700"/>
            </a:pPr>
            <a:r>
              <a:t>El resultado combina información de mercado y opiniones.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Sensibilidad Black-Litterman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La sensibilidad modifica Ω, no el BL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BL 30% → menor confianza → Ω mayor → mayor peso relativo del equilibrio.</a:t>
            </a:r>
          </a:p>
          <a:p>
            <a:pPr>
              <a:spcAft>
                <a:spcPts val="900"/>
              </a:spcAft>
              <a:defRPr sz="2000"/>
            </a:pPr>
            <a:r>
              <a:t>BL 60% → escenario central.</a:t>
            </a:r>
          </a:p>
          <a:p>
            <a:pPr>
              <a:spcAft>
                <a:spcPts val="900"/>
              </a:spcAft>
              <a:defRPr sz="2000"/>
            </a:pPr>
            <a:r>
              <a:t>BL 90% → mayor confianza → Ω menor → mayor influencia de las opiniones.</a:t>
            </a:r>
          </a:p>
          <a:p>
            <a:pPr>
              <a:spcAft>
                <a:spcPts val="900"/>
              </a:spcAft>
              <a:defRPr sz="2000"/>
            </a:pPr>
            <a:r>
              <a:t>La sensibilidad permite estudiar la estabilidad de los resultados frente a los supuestos.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89120"/>
            <a:ext cx="10515600" cy="1143000"/>
          </a:xfrm>
          <a:prstGeom prst="round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553712"/>
            <a:ext cx="10058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EBEB"/>
                </a:solidFill>
                <a:latin typeface="Menlo"/>
              </a:defRPr>
            </a:pPr>
            <a:r>
              <a:t>scaling_factor = 0.60 / confidence</a:t>
            </a:r>
            <a:br/>
            <a:r>
              <a:t>Omega_s = Omega_base * scaling_factor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Optimización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Misma función objetivo; diferentes retornos esperados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36192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BEBEB"/>
                </a:solidFill>
                <a:latin typeface="Menlo"/>
              </a:defRPr>
            </a:pPr>
            <a:r>
              <a:t>weights = optimize_max_sharpe(</a:t>
            </a:r>
            <a:br/>
            <a:r>
              <a:t>    expected_returns,</a:t>
            </a:r>
            <a:br/>
            <a:r>
              <a:t>    Sigma.values,</a:t>
            </a:r>
            <a:br/>
            <a:r>
              <a:t>    rf</a:t>
            </a:r>
            <a:br/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Se maximiza la razón de Sharpe.</a:t>
            </a:r>
          </a:p>
          <a:p>
            <a:pPr>
              <a:spcAft>
                <a:spcPts val="900"/>
              </a:spcAft>
              <a:defRPr sz="1800"/>
            </a:pPr>
            <a:r>
              <a:t>El riesgo proviene de la misma matriz de covarianzas.</a:t>
            </a:r>
          </a:p>
          <a:p>
            <a:pPr>
              <a:spcAft>
                <a:spcPts val="900"/>
              </a:spcAft>
              <a:defRPr sz="1800"/>
            </a:pPr>
            <a:r>
              <a:t>Lo que cambia entre CAPM y BL es principalmente el vector de retornos esperados.</a:t>
            </a:r>
          </a:p>
          <a:p>
            <a:pPr>
              <a:spcAft>
                <a:spcPts val="900"/>
              </a:spcAft>
              <a:defRPr sz="1800"/>
            </a:pPr>
            <a:r>
              <a:t>Pequeños cambios en retornos pueden generar cambios relevantes en pesos.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¿Qué muestran las salidas?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Leer el resultado antes de sacar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Retornos esperados por activo → identifica qué supuestos impulsan el modelo.</a:t>
            </a:r>
          </a:p>
          <a:p>
            <a:pPr>
              <a:spcAft>
                <a:spcPts val="900"/>
              </a:spcAft>
              <a:defRPr sz="1800"/>
            </a:pPr>
            <a:r>
              <a:t>Composición → muestra cómo el optimizador transforma esos retornos en pesos.</a:t>
            </a:r>
          </a:p>
          <a:p>
            <a:pPr>
              <a:spcAft>
                <a:spcPts val="900"/>
              </a:spcAft>
              <a:defRPr sz="1800"/>
            </a:pPr>
            <a:r>
              <a:t>Expected Return → retorno esperado del portafolio.</a:t>
            </a:r>
          </a:p>
          <a:p>
            <a:pPr>
              <a:spcAft>
                <a:spcPts val="900"/>
              </a:spcAft>
              <a:defRPr sz="1800"/>
            </a:pPr>
            <a:r>
              <a:t>Volatility → riesgo anualizado.</a:t>
            </a:r>
          </a:p>
          <a:p>
            <a:pPr>
              <a:spcAft>
                <a:spcPts val="900"/>
              </a:spcAft>
              <a:defRPr sz="1800"/>
            </a:pPr>
            <a:r>
              <a:t>Sharpe Ratio → retorno esperado excedente por unidad de riesgo.</a:t>
            </a:r>
          </a:p>
          <a:p>
            <a:pPr>
              <a:spcAft>
                <a:spcPts val="900"/>
              </a:spcAft>
              <a:defRPr sz="1800"/>
            </a:pPr>
            <a:r>
              <a:t>Frontera eficiente → relación entre riesgo y retorno bajo cada conjunto de supuestos.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Cómo interpretar CAPM vs. 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No se debe preguntar únicamente cuál portafolio tiene mayor retorno.</a:t>
            </a:r>
          </a:p>
          <a:p>
            <a:pPr>
              <a:spcAft>
                <a:spcPts val="900"/>
              </a:spcAft>
              <a:defRPr sz="1900"/>
            </a:pPr>
            <a:r>
              <a:t>Primero: ¿qué cambió en los retornos esperados?</a:t>
            </a:r>
          </a:p>
          <a:p>
            <a:pPr>
              <a:spcAft>
                <a:spcPts val="900"/>
              </a:spcAft>
              <a:defRPr sz="1900"/>
            </a:pPr>
            <a:r>
              <a:t>Segundo: ¿cómo respondió la optimización en pesos?</a:t>
            </a:r>
          </a:p>
          <a:p>
            <a:pPr>
              <a:spcAft>
                <a:spcPts val="900"/>
              </a:spcAft>
              <a:defRPr sz="1900"/>
            </a:pPr>
            <a:r>
              <a:t>Tercero: ¿qué ocurrió con volatilidad y Sharpe?</a:t>
            </a:r>
          </a:p>
          <a:p>
            <a:pPr>
              <a:spcAft>
                <a:spcPts val="900"/>
              </a:spcAft>
              <a:defRPr sz="1900"/>
            </a:pPr>
            <a:r>
              <a:t>Cuarto: ¿los resultados son estables cuando cambia la confianza?</a:t>
            </a:r>
          </a:p>
          <a:p>
            <a:pPr>
              <a:spcAft>
                <a:spcPts val="900"/>
              </a:spcAft>
              <a:defRPr sz="1900"/>
            </a:pPr>
            <a:r>
              <a:t>La sensibilidad ayuda a distinguir un resultado robusto de uno muy dependiente de un supuesto.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Del Python al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Reproducibilidad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Python realiza los cálculos y la optimización.</a:t>
            </a:r>
          </a:p>
          <a:p>
            <a:pPr>
              <a:spcAft>
                <a:spcPts val="900"/>
              </a:spcAft>
              <a:defRPr sz="2000"/>
            </a:pPr>
            <a:r>
              <a:t>Excel concentra los resultados para revisión y discusión.</a:t>
            </a:r>
          </a:p>
          <a:p>
            <a:pPr>
              <a:spcAft>
                <a:spcPts val="900"/>
              </a:spcAft>
              <a:defRPr sz="2000"/>
            </a:pPr>
            <a:r>
              <a:t>El .xlsx permite revisar retornos, pesos, métricas y sensibilidad.</a:t>
            </a:r>
          </a:p>
          <a:p>
            <a:pPr>
              <a:spcAft>
                <a:spcPts val="900"/>
              </a:spcAft>
              <a:defRPr sz="2000"/>
            </a:pPr>
            <a:r>
              <a:t>El objetivo es pasar del código al resultado financiero sin tratar la optimización como una caja negra.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Preguntas para el 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¿Por qué CAPM y Black-Litterman generan retornos esperados diferentes?</a:t>
            </a:r>
          </a:p>
          <a:p>
            <a:pPr>
              <a:spcAft>
                <a:spcPts val="900"/>
              </a:spcAft>
              <a:defRPr sz="2000"/>
            </a:pPr>
            <a:r>
              <a:t>¿Qué activos cambian más de peso?</a:t>
            </a:r>
          </a:p>
          <a:p>
            <a:pPr>
              <a:spcAft>
                <a:spcPts val="900"/>
              </a:spcAft>
              <a:defRPr sz="2000"/>
            </a:pPr>
            <a:r>
              <a:t>¿Qué ocurre al pasar de 30% a 90% de confianza?</a:t>
            </a:r>
          </a:p>
          <a:p>
            <a:pPr>
              <a:spcAft>
                <a:spcPts val="900"/>
              </a:spcAft>
              <a:defRPr sz="2000"/>
            </a:pPr>
            <a:r>
              <a:t>¿La frontera eficiente cambia proporcionalmente al cambio en retornos?</a:t>
            </a:r>
          </a:p>
          <a:p>
            <a:pPr>
              <a:spcAft>
                <a:spcPts val="900"/>
              </a:spcAft>
              <a:defRPr sz="2000"/>
            </a:pPr>
            <a:r>
              <a:t>¿Qué tan sensibles son las conclusiones a la prima de riesgo, τ y Ω?</a:t>
            </a:r>
          </a:p>
          <a:p>
            <a:pPr>
              <a:spcAft>
                <a:spcPts val="900"/>
              </a:spcAft>
              <a:defRPr sz="2000"/>
            </a:pPr>
            <a:r>
              <a:t>¿Qué supuestos deberían discutirse antes de utilizar el resultado para una decisión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Flujo de trabajo del estudiante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① Clonar o descargar el repositorio.</a:t>
            </a:r>
          </a:p>
          <a:p>
            <a:pPr>
              <a:spcAft>
                <a:spcPts val="900"/>
              </a:spcAft>
              <a:defRPr sz="2000"/>
            </a:pPr>
            <a:r>
              <a:t>② Crear y activar el entorno virtual.</a:t>
            </a:r>
          </a:p>
          <a:p>
            <a:pPr>
              <a:spcAft>
                <a:spcPts val="900"/>
              </a:spcAft>
              <a:defRPr sz="2000"/>
            </a:pPr>
            <a:r>
              <a:t>③ Instalar las librerías.</a:t>
            </a:r>
          </a:p>
          <a:p>
            <a:pPr>
              <a:spcAft>
                <a:spcPts val="900"/>
              </a:spcAft>
              <a:defRPr sz="2000"/>
            </a:pPr>
            <a:r>
              <a:t>④ Ejecutar CAPM_vs_Black_Litterman.py.</a:t>
            </a:r>
          </a:p>
          <a:p>
            <a:pPr>
              <a:spcAft>
                <a:spcPts val="900"/>
              </a:spcAft>
              <a:defRPr sz="2000"/>
            </a:pPr>
            <a:r>
              <a:t>⑤ Revisar las salidas en terminal.</a:t>
            </a:r>
          </a:p>
          <a:p>
            <a:pPr>
              <a:spcAft>
                <a:spcPts val="900"/>
              </a:spcAft>
              <a:defRPr sz="2000"/>
            </a:pPr>
            <a:r>
              <a:t>⑥ Abrir CAPM_vs_Black_Litterman.xlsx.</a:t>
            </a:r>
          </a:p>
          <a:p>
            <a:pPr>
              <a:spcAft>
                <a:spcPts val="900"/>
              </a:spcAft>
              <a:defRPr sz="2000"/>
            </a:pPr>
            <a:r>
              <a:t>⑦ Comparar CAPM, BL Base y sensibilidad.</a:t>
            </a:r>
          </a:p>
          <a:p>
            <a:pPr>
              <a:spcAft>
                <a:spcPts val="900"/>
              </a:spcAft>
              <a:defRPr sz="2000"/>
            </a:pPr>
            <a:r>
              <a:t>⑧ Discutir qué supuestos explican los resultados.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EAFIT · Gestión de Portafolios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944</Words>
  <Application>Microsoft Macintosh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German Verdugo</cp:lastModifiedBy>
  <cp:revision>1</cp:revision>
  <dcterms:created xsi:type="dcterms:W3CDTF">2013-01-27T09:14:16Z</dcterms:created>
  <dcterms:modified xsi:type="dcterms:W3CDTF">2026-10-02T18:35:18Z</dcterms:modified>
  <cp:category/>
</cp:coreProperties>
</file>